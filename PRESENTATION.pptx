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REAL-TIME TRANSACTION MONITORING
PIPELINE</a:t>
            </a:r>
          </a:p>
          <a:p>
            <a:r>
              <a:rPr sz="1100">
                <a:solidFill>
                  <a:srgbClr val="AAB6CC"/>
                </a:solidFill>
              </a:rPr>
              <a:t>Data Engineering Final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8463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Real-Time
Transaction Monitoring
Pipeline</a:t>
            </a:r>
          </a:p>
          <a:p>
            <a:r>
              <a:rPr sz="1700" b="1">
                <a:solidFill>
                  <a:srgbClr val="34C7FF"/>
                </a:solidFill>
              </a:rPr>
              <a:t>Kafka + Python + PostgreSQL</a:t>
            </a:r>
          </a:p>
          <a:p>
            <a:r>
              <a:rPr sz="1300">
                <a:solidFill>
                  <a:srgbClr val="F5F7FA"/>
                </a:solidFill>
              </a:rPr>
              <a:t>Presenter: Ahmad Pariji</a:t>
            </a:r>
          </a:p>
          <a:p>
            <a:r>
              <a:rPr sz="1300">
                <a:solidFill>
                  <a:srgbClr val="AAB6CC"/>
                </a:solidFill>
              </a:rPr>
              <a:t>A real-time pipeline for ingesting, validating, and storing transaction events for analytics and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34440"/>
            <a:ext cx="4754880" cy="438912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0" y="1508760"/>
            <a:ext cx="3931920" cy="5486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3720" y="1508760"/>
            <a:ext cx="73152" cy="54864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8191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Producer</a:t>
            </a:r>
          </a:p>
          <a:p>
            <a:pPr algn="ctr"/>
            <a:r>
              <a:rPr sz="900">
                <a:solidFill>
                  <a:srgbClr val="AAB6CC"/>
                </a:solidFill>
              </a:rPr>
              <a:t>Event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267712"/>
            <a:ext cx="3931920" cy="5486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2267712"/>
            <a:ext cx="73152" cy="5486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340864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Kafka Topic</a:t>
            </a:r>
          </a:p>
          <a:p>
            <a:pPr algn="ctr"/>
            <a:r>
              <a:rPr sz="900">
                <a:solidFill>
                  <a:srgbClr val="AAB6CC"/>
                </a:solidFill>
              </a:rPr>
              <a:t>Stream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026663"/>
            <a:ext cx="3931920" cy="5486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3026663"/>
            <a:ext cx="73152" cy="54864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099815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Consumer</a:t>
            </a:r>
          </a:p>
          <a:p>
            <a:pPr algn="ctr"/>
            <a:r>
              <a:rPr sz="900">
                <a:solidFill>
                  <a:srgbClr val="AAB6CC"/>
                </a:solidFill>
              </a:rPr>
              <a:t>Message reader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785615"/>
            <a:ext cx="3931920" cy="5486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3785615"/>
            <a:ext cx="73152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85876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Validation</a:t>
            </a:r>
          </a:p>
          <a:p>
            <a:pPr algn="ctr"/>
            <a:r>
              <a:rPr sz="900">
                <a:solidFill>
                  <a:srgbClr val="AAB6CC"/>
                </a:solidFill>
              </a:rPr>
              <a:t>Quality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544568"/>
            <a:ext cx="3931920" cy="5486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4544568"/>
            <a:ext cx="73152" cy="54864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617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PostgreSQL</a:t>
            </a:r>
          </a:p>
          <a:p>
            <a:pPr algn="ctr"/>
            <a:r>
              <a:rPr sz="900">
                <a:solidFill>
                  <a:srgbClr val="AAB6CC"/>
                </a:solidFill>
              </a:rPr>
              <a:t>Persistent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Presentation Flow</a:t>
            </a:r>
          </a:p>
          <a:p>
            <a:r>
              <a:rPr sz="1100">
                <a:solidFill>
                  <a:srgbClr val="AAB6CC"/>
                </a:solidFill>
              </a:rPr>
              <a:t>Compact version focused on architecture, implementation, and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3152" cy="82296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105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01  Introduction &amp;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73152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105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02  Project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73152" cy="82296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105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03  Event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73152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077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04  System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74320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743200"/>
            <a:ext cx="73152" cy="82296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9077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05  Pipeline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74320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743200"/>
            <a:ext cx="73152" cy="82296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9077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06  Data ingestion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73152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050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07  Data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4048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840480"/>
            <a:ext cx="73152" cy="82296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050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08  Data storage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84048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840480"/>
            <a:ext cx="73152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0050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09  Technology stack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3776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937760"/>
            <a:ext cx="73152" cy="82296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1023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10 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93776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4937760"/>
            <a:ext cx="73152" cy="82296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51023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11  Business use case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937760"/>
            <a:ext cx="320040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4937760"/>
            <a:ext cx="73152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51023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12  Future improvements &amp; conclusion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Introduction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F5F7FA"/>
                </a:solidFill>
              </a:defRPr>
            </a:pPr>
            <a:r>
              <a:t>• Transaction systems generate large volumes of events continuously.</a:t>
            </a:r>
          </a:p>
          <a:p>
            <a:pPr>
              <a:spcAft>
                <a:spcPts val="400"/>
              </a:spcAft>
              <a:defRPr sz="1900">
                <a:solidFill>
                  <a:srgbClr val="F5F7FA"/>
                </a:solidFill>
              </a:defRPr>
            </a:pPr>
            <a:r>
              <a:t>• Manual monitoring is slow and error-prone for high-frequency streams.</a:t>
            </a:r>
          </a:p>
          <a:p>
            <a:pPr>
              <a:spcAft>
                <a:spcPts val="400"/>
              </a:spcAft>
              <a:defRPr sz="1900">
                <a:solidFill>
                  <a:srgbClr val="F5F7FA"/>
                </a:solidFill>
              </a:defRPr>
            </a:pPr>
            <a:r>
              <a:t>• A streaming pipeline is needed to validate data early and store reliable records for analytics.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466344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73152" cy="8686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773936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Business need</a:t>
            </a:r>
          </a:p>
          <a:p>
            <a:r>
              <a:rPr sz="1100">
                <a:solidFill>
                  <a:srgbClr val="AAB6CC"/>
                </a:solidFill>
              </a:rPr>
              <a:t>Process events in real time without delaying downstream monitoring or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88920"/>
            <a:ext cx="466344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88920"/>
            <a:ext cx="73152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916936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Core problem</a:t>
            </a:r>
          </a:p>
          <a:p>
            <a:r>
              <a:rPr sz="1100">
                <a:solidFill>
                  <a:srgbClr val="AAB6CC"/>
                </a:solidFill>
              </a:rPr>
              <a:t>Invalid, duplicate, or malformed transactions can reduce data quality and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466344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931920"/>
            <a:ext cx="73152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059935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Approach</a:t>
            </a:r>
          </a:p>
          <a:p>
            <a:r>
              <a:rPr sz="1100">
                <a:solidFill>
                  <a:srgbClr val="AAB6CC"/>
                </a:solidFill>
              </a:rPr>
              <a:t>Use Kafka for streaming, Python for validation, and PostgreSQL for structured 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832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73152" cy="123444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01952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Build a real-time pipeline</a:t>
            </a:r>
          </a:p>
          <a:p>
            <a:r>
              <a:rPr sz="1050">
                <a:solidFill>
                  <a:srgbClr val="AAB6CC"/>
                </a:solidFill>
              </a:rPr>
              <a:t>Ingest transaction events continuously using Kafka and process them with low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0" y="1737360"/>
            <a:ext cx="73152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01952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Validate data automatically</a:t>
            </a:r>
          </a:p>
          <a:p>
            <a:r>
              <a:rPr sz="1050">
                <a:solidFill>
                  <a:srgbClr val="AAB6CC"/>
                </a:solidFill>
              </a:rPr>
              <a:t>Apply mandatory field checks, type checks, range checks, source checks, and duplicate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737360"/>
            <a:ext cx="33832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737360"/>
            <a:ext cx="73152" cy="123444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901952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Store clean data reliably</a:t>
            </a:r>
          </a:p>
          <a:p>
            <a:r>
              <a:rPr sz="1050">
                <a:solidFill>
                  <a:srgbClr val="AAB6CC"/>
                </a:solidFill>
              </a:rPr>
              <a:t>Write validated records to PostgreSQL so they are query-ready for monitoring and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3657600"/>
            <a:ext cx="33832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3657600"/>
            <a:ext cx="73152" cy="12344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822191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Separate invalid data</a:t>
            </a:r>
          </a:p>
          <a:p>
            <a:r>
              <a:rPr sz="1050">
                <a:solidFill>
                  <a:srgbClr val="AAB6CC"/>
                </a:solidFill>
              </a:rPr>
              <a:t>Keep invalid transactions for troubleshooting using error categories and raw payloads.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33832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657600"/>
            <a:ext cx="73152" cy="123444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22191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Prepare analytics-ready output</a:t>
            </a:r>
          </a:p>
          <a:p>
            <a:r>
              <a:rPr sz="1050">
                <a:solidFill>
                  <a:srgbClr val="AAB6CC"/>
                </a:solidFill>
              </a:rPr>
              <a:t>Support future dashboards, reporting, and anomaly detection use cases.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Data Source &amp; Event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40233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73152" cy="40233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6420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71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</a:defRPr>
            </a:pPr>
            <a:r>
              <a:t>• Public Kaggle dataset: Credit Card Fraud Detection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</a:defRPr>
            </a:pPr>
            <a:r>
              <a:t>• Transformed into streaming transaction events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</a:defRPr>
            </a:pPr>
            <a:r>
              <a:t>• Used as realistic input for Kafka producer</a:t>
            </a:r>
          </a:p>
          <a:p>
            <a:pPr>
              <a:spcAft>
                <a:spcPts val="400"/>
              </a:spcAft>
              <a:defRPr sz="1500">
                <a:solidFill>
                  <a:srgbClr val="F5F7FA"/>
                </a:solidFill>
              </a:defRPr>
            </a:pPr>
            <a:r>
              <a:t>• Added source field to simulate real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38912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F7FA"/>
                </a:solidFill>
              </a:rPr>
              <a:t>Why this dataset</a:t>
            </a:r>
          </a:p>
          <a:p>
            <a:r>
              <a:rPr sz="1050">
                <a:solidFill>
                  <a:srgbClr val="AAB6CC"/>
                </a:solidFill>
              </a:rPr>
              <a:t>It gives realistic transaction amounts and a fraud flag for a more practical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6766560" cy="40233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554480"/>
            <a:ext cx="73152" cy="402336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664208"/>
            <a:ext cx="6537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Event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28346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F7FA"/>
                </a:solidFill>
                <a:latin typeface="Courier New"/>
              </a:rPr>
              <a:t>{
  "user_id": "U12345",
  "amount": 149.62,
  "timestamp": "2026-03-01T08:00:00Z",
  "source": "mobile",
  "fraud_flag": 0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0116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user_id</a:t>
            </a:r>
          </a:p>
          <a:p>
            <a:r>
              <a:rPr sz="1050">
                <a:solidFill>
                  <a:srgbClr val="AAB6CC"/>
                </a:solidFill>
              </a:rPr>
              <a:t>Unique user identifier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14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amount</a:t>
            </a:r>
          </a:p>
          <a:p>
            <a:r>
              <a:rPr sz="1050">
                <a:solidFill>
                  <a:srgbClr val="AAB6CC"/>
                </a:solidFill>
              </a:rPr>
              <a:t>Transaction amount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17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timestamp</a:t>
            </a:r>
          </a:p>
          <a:p>
            <a:r>
              <a:rPr sz="1050">
                <a:solidFill>
                  <a:srgbClr val="AAB6CC"/>
                </a:solidFill>
              </a:rPr>
              <a:t>Event time in ISO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520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source</a:t>
            </a:r>
          </a:p>
          <a:p>
            <a:r>
              <a:rPr sz="1050">
                <a:solidFill>
                  <a:srgbClr val="AAB6CC"/>
                </a:solidFill>
              </a:rPr>
              <a:t>Origin platform: mobile, web, merchant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023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fraud_flag</a:t>
            </a:r>
          </a:p>
          <a:p>
            <a:r>
              <a:rPr sz="1050">
                <a:solidFill>
                  <a:srgbClr val="AAB6CC"/>
                </a:solidFill>
              </a:rPr>
              <a:t>Label from source 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48840"/>
            <a:ext cx="1828800" cy="10515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48840"/>
            <a:ext cx="73152" cy="105156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231343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Producer</a:t>
            </a:r>
          </a:p>
          <a:p>
            <a:pPr algn="ctr"/>
            <a:r>
              <a:rPr sz="1050">
                <a:solidFill>
                  <a:srgbClr val="AAB6CC"/>
                </a:solidFill>
              </a:rPr>
              <a:t>Generate events</a:t>
            </a:r>
          </a:p>
        </p:txBody>
      </p:sp>
      <p:sp>
        <p:nvSpPr>
          <p:cNvPr id="6" name="Chevron 5"/>
          <p:cNvSpPr/>
          <p:nvPr/>
        </p:nvSpPr>
        <p:spPr>
          <a:xfrm>
            <a:off x="2148839" y="2487168"/>
            <a:ext cx="411480" cy="347472"/>
          </a:xfrm>
          <a:prstGeom prst="chevron">
            <a:avLst/>
          </a:prstGeom>
          <a:solidFill>
            <a:srgbClr val="46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2148840"/>
            <a:ext cx="1828800" cy="10515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2148840"/>
            <a:ext cx="73152" cy="10515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231343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Kafka Topic</a:t>
            </a:r>
          </a:p>
          <a:p>
            <a:pPr algn="ctr"/>
            <a:r>
              <a:rPr sz="1050">
                <a:solidFill>
                  <a:srgbClr val="AAB6CC"/>
                </a:solidFill>
              </a:rPr>
              <a:t>Buffer stream</a:t>
            </a:r>
          </a:p>
        </p:txBody>
      </p:sp>
      <p:sp>
        <p:nvSpPr>
          <p:cNvPr id="10" name="Chevron 9"/>
          <p:cNvSpPr/>
          <p:nvPr/>
        </p:nvSpPr>
        <p:spPr>
          <a:xfrm>
            <a:off x="4434840" y="2487168"/>
            <a:ext cx="411480" cy="347472"/>
          </a:xfrm>
          <a:prstGeom prst="chevron">
            <a:avLst/>
          </a:prstGeom>
          <a:solidFill>
            <a:srgbClr val="46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2148840"/>
            <a:ext cx="1828800" cy="10515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2148840"/>
            <a:ext cx="73152" cy="105156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31343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Python Consumer</a:t>
            </a:r>
          </a:p>
          <a:p>
            <a:pPr algn="ctr"/>
            <a:r>
              <a:rPr sz="1050">
                <a:solidFill>
                  <a:srgbClr val="AAB6CC"/>
                </a:solidFill>
              </a:rPr>
              <a:t>Read messages</a:t>
            </a:r>
          </a:p>
        </p:txBody>
      </p:sp>
      <p:sp>
        <p:nvSpPr>
          <p:cNvPr id="14" name="Chevron 13"/>
          <p:cNvSpPr/>
          <p:nvPr/>
        </p:nvSpPr>
        <p:spPr>
          <a:xfrm>
            <a:off x="6720840" y="2487168"/>
            <a:ext cx="411480" cy="347472"/>
          </a:xfrm>
          <a:prstGeom prst="chevron">
            <a:avLst/>
          </a:prstGeom>
          <a:solidFill>
            <a:srgbClr val="46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79" y="2148840"/>
            <a:ext cx="1828800" cy="10515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2148840"/>
            <a:ext cx="73152" cy="10515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31343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Validation Layer</a:t>
            </a:r>
          </a:p>
          <a:p>
            <a:pPr algn="ctr"/>
            <a:r>
              <a:rPr sz="1050">
                <a:solidFill>
                  <a:srgbClr val="AAB6CC"/>
                </a:solidFill>
              </a:rPr>
              <a:t>Quality checks</a:t>
            </a:r>
          </a:p>
        </p:txBody>
      </p:sp>
      <p:sp>
        <p:nvSpPr>
          <p:cNvPr id="18" name="Chevron 17"/>
          <p:cNvSpPr/>
          <p:nvPr/>
        </p:nvSpPr>
        <p:spPr>
          <a:xfrm>
            <a:off x="9006840" y="2487168"/>
            <a:ext cx="411480" cy="347472"/>
          </a:xfrm>
          <a:prstGeom prst="chevron">
            <a:avLst/>
          </a:prstGeom>
          <a:solidFill>
            <a:srgbClr val="465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80" y="2148840"/>
            <a:ext cx="1828800" cy="10515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84080" y="2148840"/>
            <a:ext cx="73152" cy="105156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313432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</a:rPr>
              <a:t>PostgreSQL</a:t>
            </a:r>
          </a:p>
          <a:p>
            <a:pPr algn="ctr"/>
            <a:r>
              <a:rPr sz="1050">
                <a:solidFill>
                  <a:srgbClr val="AAB6CC"/>
                </a:solidFill>
              </a:rPr>
              <a:t>Store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301752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73152" cy="8686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01184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Streaming backbone</a:t>
            </a:r>
          </a:p>
          <a:p>
            <a:r>
              <a:rPr sz="1050">
                <a:solidFill>
                  <a:srgbClr val="AAB6CC"/>
                </a:solidFill>
              </a:rPr>
              <a:t>Kafka decouples producer and consumer for reliable event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754880"/>
            <a:ext cx="301752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754880"/>
            <a:ext cx="73152" cy="86868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01184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Processing logic</a:t>
            </a:r>
          </a:p>
          <a:p>
            <a:r>
              <a:rPr sz="1050">
                <a:solidFill>
                  <a:srgbClr val="AAB6CC"/>
                </a:solidFill>
              </a:rPr>
              <a:t>Python consumer validates events before database insertion.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301752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754880"/>
            <a:ext cx="73152" cy="8686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901184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Storage outcome</a:t>
            </a:r>
          </a:p>
          <a:p>
            <a:r>
              <a:rPr sz="1050">
                <a:solidFill>
                  <a:srgbClr val="AAB6CC"/>
                </a:solidFill>
              </a:rPr>
              <a:t>Valid and invalid transactions are stored separately.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Data Pipeline Flow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2219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7122E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Generate event</a:t>
            </a:r>
          </a:p>
        </p:txBody>
      </p:sp>
      <p:sp>
        <p:nvSpPr>
          <p:cNvPr id="6" name="Chevron 5"/>
          <p:cNvSpPr/>
          <p:nvPr/>
        </p:nvSpPr>
        <p:spPr>
          <a:xfrm>
            <a:off x="1691640" y="2221992"/>
            <a:ext cx="594360" cy="201168"/>
          </a:xfrm>
          <a:prstGeom prst="chevron">
            <a:avLst/>
          </a:prstGeom>
          <a:solidFill>
            <a:srgbClr val="4B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63240" y="2103120"/>
            <a:ext cx="594360" cy="5943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27832" y="22219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7122E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78892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Publish to topic</a:t>
            </a:r>
          </a:p>
        </p:txBody>
      </p:sp>
      <p:sp>
        <p:nvSpPr>
          <p:cNvPr id="10" name="Chevron 9"/>
          <p:cNvSpPr/>
          <p:nvPr/>
        </p:nvSpPr>
        <p:spPr>
          <a:xfrm>
            <a:off x="3840480" y="2221992"/>
            <a:ext cx="594360" cy="201168"/>
          </a:xfrm>
          <a:prstGeom prst="chevron">
            <a:avLst/>
          </a:prstGeom>
          <a:solidFill>
            <a:srgbClr val="4B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2080" y="2103120"/>
            <a:ext cx="594360" cy="594360"/>
          </a:xfrm>
          <a:prstGeom prst="ellipse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76672" y="22219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7122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78892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Consume message</a:t>
            </a:r>
          </a:p>
        </p:txBody>
      </p:sp>
      <p:sp>
        <p:nvSpPr>
          <p:cNvPr id="14" name="Chevron 13"/>
          <p:cNvSpPr/>
          <p:nvPr/>
        </p:nvSpPr>
        <p:spPr>
          <a:xfrm>
            <a:off x="5989320" y="2221992"/>
            <a:ext cx="594360" cy="201168"/>
          </a:xfrm>
          <a:prstGeom prst="chevron">
            <a:avLst/>
          </a:prstGeom>
          <a:solidFill>
            <a:srgbClr val="4B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60920" y="210312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22219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7122E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8892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Validate fields</a:t>
            </a:r>
          </a:p>
        </p:txBody>
      </p:sp>
      <p:sp>
        <p:nvSpPr>
          <p:cNvPr id="18" name="Chevron 17"/>
          <p:cNvSpPr/>
          <p:nvPr/>
        </p:nvSpPr>
        <p:spPr>
          <a:xfrm>
            <a:off x="8138160" y="2221992"/>
            <a:ext cx="594360" cy="201168"/>
          </a:xfrm>
          <a:prstGeom prst="chevron">
            <a:avLst/>
          </a:prstGeom>
          <a:solidFill>
            <a:srgbClr val="4B5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2103120"/>
            <a:ext cx="594360" cy="594360"/>
          </a:xfrm>
          <a:prstGeom prst="ellipse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222199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7122E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78892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</a:rPr>
              <a:t>Store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114800"/>
            <a:ext cx="10058400" cy="91440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114800"/>
            <a:ext cx="73152" cy="91440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AAB6CC"/>
                </a:solidFill>
              </a:defRPr>
            </a:pPr>
            <a:r>
              <a:t>Producer creates events every 1–2 seconds. Kafka topic transactions acts as the transport layer. Consumer parses JSON, applies validation, and routes valid/invalid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Data Ingestion</a:t>
            </a:r>
          </a:p>
          <a:p>
            <a:r>
              <a:rPr sz="1100">
                <a:solidFill>
                  <a:srgbClr val="AAB6CC"/>
                </a:solidFill>
              </a:rPr>
              <a:t>Kafka producer simulates a real-time payment stream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5943600" cy="3291840"/>
          </a:xfrm>
          <a:prstGeom prst="roundRect">
            <a:avLst/>
          </a:prstGeom>
          <a:solidFill>
            <a:srgbClr val="0F121C"/>
          </a:solidFill>
          <a:ln>
            <a:solidFill>
              <a:srgbClr val="3C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2024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5F7FA"/>
                </a:solidFill>
                <a:latin typeface="Courier New"/>
              </a:rPr>
              <a:t>KafkaProducer - Real Time Event Generation</a:t>
            </a:r>
          </a:p>
          <a:p>
            <a:r>
              <a:rPr sz="1150">
                <a:solidFill>
                  <a:srgbClr val="6FFFAF"/>
                </a:solidFill>
                <a:latin typeface="Courier New"/>
              </a:rPr>
              <a:t>&gt; python producer.py</a:t>
            </a:r>
          </a:p>
          <a:p>
            <a:r>
              <a:rPr sz="1150">
                <a:solidFill>
                  <a:srgbClr val="6FFFAF"/>
                </a:solidFill>
                <a:latin typeface="Courier New"/>
              </a:rPr>
              <a:t>Connected to topic: transactions</a:t>
            </a:r>
          </a:p>
          <a:p>
            <a:r>
              <a:rPr sz="1150">
                <a:solidFill>
                  <a:srgbClr val="6FFFAF"/>
                </a:solidFill>
                <a:latin typeface="Courier New"/>
              </a:rPr>
              <a:t>Sending event: {'user_id':'U12345','amount':149.62,'timestamp':'2026-03-01T08:00:00Z','source':'mobile','fraud_flag':0}</a:t>
            </a:r>
          </a:p>
          <a:p>
            <a:r>
              <a:rPr sz="1150">
                <a:solidFill>
                  <a:srgbClr val="6FFFAF"/>
                </a:solidFill>
                <a:latin typeface="Courier New"/>
              </a:rPr>
              <a:t>Sending event: {'user_id':'U56231','amount':2.69,'timestamp':'2026-03-01T08:00:01Z','source':'web','fraud_flag':0}</a:t>
            </a:r>
          </a:p>
          <a:p>
            <a:r>
              <a:rPr sz="1150">
                <a:solidFill>
                  <a:srgbClr val="6FFFAF"/>
                </a:solidFill>
                <a:latin typeface="Courier New"/>
              </a:rPr>
              <a:t>Producer running... every 1-2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3566160" cy="7772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73152" cy="77724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9385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Frequency</a:t>
            </a:r>
          </a:p>
          <a:p>
            <a:r>
              <a:rPr sz="1050">
                <a:solidFill>
                  <a:srgbClr val="AAB6CC"/>
                </a:solidFill>
              </a:rPr>
              <a:t>Events are generated continuously to imitate live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880360"/>
            <a:ext cx="3566160" cy="7772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2880360"/>
            <a:ext cx="73152" cy="7772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99008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Payload</a:t>
            </a:r>
          </a:p>
          <a:p>
            <a:r>
              <a:rPr sz="1050">
                <a:solidFill>
                  <a:srgbClr val="AAB6CC"/>
                </a:solidFill>
              </a:rPr>
              <a:t>Each event contains user_id, amount, timestamp, source, and fraud_flag.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931920"/>
            <a:ext cx="3566160" cy="7772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3931920"/>
            <a:ext cx="73152" cy="77724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404164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Topic</a:t>
            </a:r>
          </a:p>
          <a:p>
            <a:r>
              <a:rPr sz="1050">
                <a:solidFill>
                  <a:srgbClr val="AAB6CC"/>
                </a:solidFill>
              </a:rPr>
              <a:t>Messages are published to Kafka topic: transactions.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Data Validation</a:t>
            </a:r>
          </a:p>
          <a:p>
            <a:r>
              <a:rPr sz="1100">
                <a:solidFill>
                  <a:srgbClr val="AAB6CC"/>
                </a:solidFill>
              </a:rPr>
              <a:t>Quality controls applied before inserting to the database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475488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73152" cy="8686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865376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Mandatory fields</a:t>
            </a:r>
          </a:p>
          <a:p>
            <a:r>
              <a:rPr sz="1050">
                <a:solidFill>
                  <a:srgbClr val="AAB6CC"/>
                </a:solidFill>
              </a:rPr>
              <a:t>user_id, amount, timestamp, and source must exist.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475488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737360"/>
            <a:ext cx="73152" cy="86868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865376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Type validation</a:t>
            </a:r>
          </a:p>
          <a:p>
            <a:r>
              <a:rPr sz="1050">
                <a:solidFill>
                  <a:srgbClr val="AAB6CC"/>
                </a:solidFill>
              </a:rPr>
              <a:t>Amount numeric, timestamp valid, source as expected.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71800"/>
            <a:ext cx="475488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971800"/>
            <a:ext cx="73152" cy="8686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99816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Range validation</a:t>
            </a:r>
          </a:p>
          <a:p>
            <a:r>
              <a:rPr sz="1050">
                <a:solidFill>
                  <a:srgbClr val="AAB6CC"/>
                </a:solidFill>
              </a:rPr>
              <a:t>Amounts outside acceptable limits are rejected.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71800"/>
            <a:ext cx="475488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71800"/>
            <a:ext cx="73152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099816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Source validation</a:t>
            </a:r>
          </a:p>
          <a:p>
            <a:r>
              <a:rPr sz="1050">
                <a:solidFill>
                  <a:srgbClr val="AAB6CC"/>
                </a:solidFill>
              </a:rPr>
              <a:t>Only approved channels such as mobile, web, and merchant are accepted.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475488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206240"/>
            <a:ext cx="73152" cy="86868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334255"/>
            <a:ext cx="4297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Duplicate detection</a:t>
            </a:r>
          </a:p>
          <a:p>
            <a:r>
              <a:rPr sz="1050">
                <a:solidFill>
                  <a:srgbClr val="AAB6CC"/>
                </a:solidFill>
              </a:rPr>
              <a:t>Repeated events are flagged to avoid redundant storage.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Data Storage</a:t>
            </a:r>
          </a:p>
          <a:p>
            <a:r>
              <a:rPr sz="1100">
                <a:solidFill>
                  <a:srgbClr val="AAB6CC"/>
                </a:solidFill>
              </a:rPr>
              <a:t>PostgreSQL stores validated and rejected records separately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737360"/>
            <a:ext cx="4572000" cy="33832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73152" cy="3383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847088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transactions_valid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40280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Columns</a:t>
            </a:r>
          </a:p>
          <a:p>
            <a:r>
              <a:rPr sz="1150">
                <a:solidFill>
                  <a:srgbClr val="F5F7FA"/>
                </a:solidFill>
              </a:rPr>
              <a:t>• user_id</a:t>
            </a:r>
          </a:p>
          <a:p>
            <a:r>
              <a:rPr sz="1150">
                <a:solidFill>
                  <a:srgbClr val="F5F7FA"/>
                </a:solidFill>
              </a:rPr>
              <a:t>• amount</a:t>
            </a:r>
          </a:p>
          <a:p>
            <a:r>
              <a:rPr sz="1150">
                <a:solidFill>
                  <a:srgbClr val="F5F7FA"/>
                </a:solidFill>
              </a:rPr>
              <a:t>• timestamp</a:t>
            </a:r>
          </a:p>
          <a:p>
            <a:r>
              <a:rPr sz="1150">
                <a:solidFill>
                  <a:srgbClr val="F5F7FA"/>
                </a:solidFill>
              </a:rPr>
              <a:t>•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40280"/>
            <a:ext cx="2011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Purpose</a:t>
            </a:r>
          </a:p>
          <a:p>
            <a:r>
              <a:rPr sz="1100">
                <a:solidFill>
                  <a:srgbClr val="AAB6CC"/>
                </a:solidFill>
              </a:rPr>
              <a:t>Store clean transactions for analytics, queries, and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4572000" cy="33832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73152" cy="33832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47088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transactions_invalid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1828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Columns</a:t>
            </a:r>
          </a:p>
          <a:p>
            <a:r>
              <a:rPr sz="1150">
                <a:solidFill>
                  <a:srgbClr val="F5F7FA"/>
                </a:solidFill>
              </a:rPr>
              <a:t>• error_type</a:t>
            </a:r>
          </a:p>
          <a:p>
            <a:r>
              <a:rPr sz="1150">
                <a:solidFill>
                  <a:srgbClr val="F5F7FA"/>
                </a:solidFill>
              </a:rPr>
              <a:t>• raw_data</a:t>
            </a:r>
          </a:p>
          <a:p>
            <a:r>
              <a:rPr sz="1150">
                <a:solidFill>
                  <a:srgbClr val="F5F7FA"/>
                </a:solidFill>
              </a:rPr>
              <a:t>• timestamp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240280"/>
            <a:ext cx="20116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F7FA"/>
                </a:solidFill>
              </a:rPr>
              <a:t>Purpose</a:t>
            </a:r>
          </a:p>
          <a:p>
            <a:r>
              <a:rPr sz="1100">
                <a:solidFill>
                  <a:srgbClr val="AAB6CC"/>
                </a:solidFill>
              </a:rPr>
              <a:t>Keep problematic records for debugging, audit, and error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2560320" cy="13258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73152" cy="13258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29968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Streaming</a:t>
            </a:r>
          </a:p>
          <a:p>
            <a:r>
              <a:rPr sz="1200">
                <a:solidFill>
                  <a:srgbClr val="AAB6CC"/>
                </a:solidFill>
              </a:rPr>
              <a:t>Apache Kafka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828800"/>
            <a:ext cx="2560320" cy="13258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11880" y="1828800"/>
            <a:ext cx="73152" cy="132588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029968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Processing</a:t>
            </a:r>
          </a:p>
          <a:p>
            <a:r>
              <a:rPr sz="1200">
                <a:solidFill>
                  <a:srgbClr val="AAB6CC"/>
                </a:solidFill>
              </a:rPr>
              <a:t>Python Consumer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560320" cy="13258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73152" cy="13258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029968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Database</a:t>
            </a:r>
          </a:p>
          <a:p>
            <a:r>
              <a:rPr sz="1200">
                <a:solidFill>
                  <a:srgbClr val="AAB6CC"/>
                </a:solidFill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828800"/>
            <a:ext cx="2560320" cy="13258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89720" y="1828800"/>
            <a:ext cx="73152" cy="13258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029968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Version Control</a:t>
            </a:r>
          </a:p>
          <a:p>
            <a:r>
              <a:rPr sz="1200">
                <a:solidFill>
                  <a:srgbClr val="AAB6CC"/>
                </a:solidFill>
              </a:rPr>
              <a:t>GitHub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389120"/>
            <a:ext cx="3840480" cy="91440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389120"/>
            <a:ext cx="7315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457200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Why this stack</a:t>
            </a:r>
          </a:p>
          <a:p>
            <a:r>
              <a:rPr sz="1050">
                <a:solidFill>
                  <a:srgbClr val="AAB6CC"/>
                </a:solidFill>
              </a:rPr>
              <a:t>Simple, practical, and suitable for demonstrating end-to-end streaming architecture.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3840480" cy="91440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73152" cy="91440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57200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Design principle</a:t>
            </a:r>
          </a:p>
          <a:p>
            <a:r>
              <a:rPr sz="1050">
                <a:solidFill>
                  <a:srgbClr val="AAB6CC"/>
                </a:solidFill>
              </a:rPr>
              <a:t>Separate ingestion, validation, and storage so each stage has a clear responsibility.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Results</a:t>
            </a:r>
          </a:p>
          <a:p>
            <a:r>
              <a:rPr sz="1100">
                <a:solidFill>
                  <a:srgbClr val="AAB6CC"/>
                </a:solidFill>
              </a:rPr>
              <a:t>Observed outcome from the pipeline simulation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920240"/>
            <a:ext cx="2377440" cy="15544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920240"/>
            <a:ext cx="73152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F7FA"/>
                </a:solidFill>
              </a:rPr>
              <a:t>95%</a:t>
            </a:r>
          </a:p>
          <a:p>
            <a:pPr algn="ctr"/>
            <a:r>
              <a:rPr sz="1150">
                <a:solidFill>
                  <a:srgbClr val="AAB6CC"/>
                </a:solidFill>
              </a:rPr>
              <a:t>Valid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2377440" cy="15544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920240"/>
            <a:ext cx="73152" cy="155448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F7FA"/>
                </a:solidFill>
              </a:rPr>
              <a:t>5%</a:t>
            </a:r>
          </a:p>
          <a:p>
            <a:pPr algn="ctr"/>
            <a:r>
              <a:rPr sz="1150">
                <a:solidFill>
                  <a:srgbClr val="AAB6CC"/>
                </a:solidFill>
              </a:rPr>
              <a:t>Invalid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920240"/>
            <a:ext cx="2377440" cy="15544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920240"/>
            <a:ext cx="73152" cy="15544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14884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F7FA"/>
                </a:solidFill>
              </a:rPr>
              <a:t>Stable</a:t>
            </a:r>
          </a:p>
          <a:p>
            <a:pPr algn="ctr"/>
            <a:r>
              <a:rPr sz="1150">
                <a:solidFill>
                  <a:srgbClr val="AAB6CC"/>
                </a:solidFill>
              </a:rPr>
              <a:t>Streaming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114800"/>
            <a:ext cx="8961120" cy="8686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4114800"/>
            <a:ext cx="73152" cy="8686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36168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AAB6CC"/>
                </a:solidFill>
              </a:defRPr>
            </a:pPr>
            <a:r>
              <a:t>Validation improved data quality by separating good and bad records. Structured output in PostgreSQL makes the data ready for analytics and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Business Use 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20240"/>
            <a:ext cx="3200400" cy="182880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920240"/>
            <a:ext cx="73152" cy="182880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21488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</a:rPr>
              <a:t>Real-time transaction monitoring</a:t>
            </a:r>
          </a:p>
          <a:p>
            <a:r>
              <a:rPr sz="1100">
                <a:solidFill>
                  <a:srgbClr val="AAB6CC"/>
                </a:solidFill>
              </a:rPr>
              <a:t>Track transaction flow continuously and detect issues earlier.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920240"/>
            <a:ext cx="3200400" cy="182880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920240"/>
            <a:ext cx="73152" cy="182880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1488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</a:rPr>
              <a:t>Fraud detection support</a:t>
            </a:r>
          </a:p>
          <a:p>
            <a:r>
              <a:rPr sz="1100">
                <a:solidFill>
                  <a:srgbClr val="AAB6CC"/>
                </a:solidFill>
              </a:rPr>
              <a:t>Provide clean and timely data for suspicious transaction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19" y="1920240"/>
            <a:ext cx="3200400" cy="182880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75319" y="1920240"/>
            <a:ext cx="73152" cy="182880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21488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F7FA"/>
                </a:solidFill>
              </a:rPr>
              <a:t>Anomaly detection</a:t>
            </a:r>
          </a:p>
          <a:p>
            <a:r>
              <a:rPr sz="1100">
                <a:solidFill>
                  <a:srgbClr val="AAB6CC"/>
                </a:solidFill>
              </a:rPr>
              <a:t>Identify unusual transaction patterns that may need further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326880" cy="82296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73152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773168"/>
            <a:ext cx="8778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5F7FA"/>
                </a:solidFill>
              </a:rPr>
              <a:t>In real-world systems, this kind of pipeline is commonly used in financial services, payment systems, and e-commerce platforms.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20240"/>
            <a:ext cx="29260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920240"/>
            <a:ext cx="73152" cy="123444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84832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Monitoring dashboard</a:t>
            </a:r>
          </a:p>
          <a:p>
            <a:r>
              <a:rPr sz="1050">
                <a:solidFill>
                  <a:srgbClr val="AAB6CC"/>
                </a:solidFill>
              </a:rPr>
              <a:t>Build real-time visual monitoring for throughput, errors, and anomalies.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920240"/>
            <a:ext cx="29260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26280" y="1920240"/>
            <a:ext cx="73152" cy="1234440"/>
          </a:xfrm>
          <a:prstGeom prst="rect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84832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Fraud detection</a:t>
            </a:r>
          </a:p>
          <a:p>
            <a:r>
              <a:rPr sz="1050">
                <a:solidFill>
                  <a:srgbClr val="AAB6CC"/>
                </a:solidFill>
              </a:rPr>
              <a:t>Add machine learning or rule-based models for suspicious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920240"/>
            <a:ext cx="29260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920240"/>
            <a:ext cx="73152" cy="1234440"/>
          </a:xfrm>
          <a:prstGeom prst="rect">
            <a:avLst/>
          </a:prstGeom>
          <a:solidFill>
            <a:srgbClr val="A6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084832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Predictive analytics</a:t>
            </a:r>
          </a:p>
          <a:p>
            <a:r>
              <a:rPr sz="1050">
                <a:solidFill>
                  <a:srgbClr val="AAB6CC"/>
                </a:solidFill>
              </a:rPr>
              <a:t>Use historical patterns to anticipate transaction spikes or anomalies.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3840480"/>
            <a:ext cx="29260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3840480"/>
            <a:ext cx="73152" cy="12344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4005072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Automated alerts</a:t>
            </a:r>
          </a:p>
          <a:p>
            <a:r>
              <a:rPr sz="1050">
                <a:solidFill>
                  <a:srgbClr val="AAB6CC"/>
                </a:solidFill>
              </a:rPr>
              <a:t>Trigger notifications when invalid rates or suspicious events increase.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840480"/>
            <a:ext cx="2926080" cy="123444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3840480"/>
            <a:ext cx="73152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005072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Scalability</a:t>
            </a:r>
          </a:p>
          <a:p>
            <a:r>
              <a:rPr sz="1050">
                <a:solidFill>
                  <a:srgbClr val="AAB6CC"/>
                </a:solidFill>
              </a:rPr>
              <a:t>Extend the architecture for higher throughput and distributed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828800"/>
            <a:ext cx="3108960" cy="13258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73152" cy="132588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9339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Kafka handles streaming</a:t>
            </a:r>
          </a:p>
          <a:p>
            <a:r>
              <a:rPr sz="1050">
                <a:solidFill>
                  <a:srgbClr val="AAB6CC"/>
                </a:solidFill>
              </a:rPr>
              <a:t>Kafka provides reliable transport for real-time transaction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3108960" cy="13258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26280" y="1828800"/>
            <a:ext cx="73152" cy="1325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99339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Validation protects data quality</a:t>
            </a:r>
          </a:p>
          <a:p>
            <a:r>
              <a:rPr sz="1050">
                <a:solidFill>
                  <a:srgbClr val="AAB6CC"/>
                </a:solidFill>
              </a:rPr>
              <a:t>Invalid and duplicate records are filtered before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828800"/>
            <a:ext cx="3108960" cy="13258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28800"/>
            <a:ext cx="73152" cy="13258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993392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F7FA"/>
                </a:solidFill>
              </a:rPr>
              <a:t>PostgreSQL stores query-ready data</a:t>
            </a:r>
          </a:p>
          <a:p>
            <a:r>
              <a:rPr sz="1050">
                <a:solidFill>
                  <a:srgbClr val="AAB6CC"/>
                </a:solidFill>
              </a:rPr>
              <a:t>Validated transactions are persisted in a structured form for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4114800"/>
            <a:ext cx="6400800" cy="1097280"/>
          </a:xfrm>
          <a:prstGeom prst="roundRect">
            <a:avLst/>
          </a:prstGeom>
          <a:solidFill>
            <a:srgbClr val="1F2B49"/>
          </a:solidFill>
          <a:ln>
            <a:solidFill>
              <a:srgbClr val="37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4114800"/>
            <a:ext cx="73152" cy="1097280"/>
          </a:xfrm>
          <a:prstGeom prst="rect">
            <a:avLst/>
          </a:prstGeom>
          <a:solidFill>
            <a:srgbClr val="34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43891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Overall outcome</a:t>
            </a:r>
          </a:p>
          <a:p>
            <a:r>
              <a:rPr sz="1200">
                <a:solidFill>
                  <a:srgbClr val="AAB6CC"/>
                </a:solidFill>
              </a:rPr>
              <a:t>The project demonstrates an end-to-end real-time transaction monitoring pipeline using Kafka, Python, and PostgreSQL.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A"/>
                </a:solidFill>
              </a:rPr>
              <a:t>Questions and discussion</a:t>
            </a:r>
          </a:p>
          <a:p>
            <a:r>
              <a:rPr sz="1600">
                <a:solidFill>
                  <a:srgbClr val="AAB6CC"/>
                </a:solidFill>
              </a:rPr>
              <a:t>Ahmad Pariji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AB6CC"/>
                </a:solidFill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